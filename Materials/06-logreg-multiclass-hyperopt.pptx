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77" r:id="rId2"/>
    <p:sldId id="278" r:id="rId3"/>
    <p:sldId id="282" r:id="rId4"/>
    <p:sldId id="283" r:id="rId5"/>
    <p:sldId id="300" r:id="rId6"/>
    <p:sldId id="284" r:id="rId7"/>
    <p:sldId id="285" r:id="rId8"/>
    <p:sldId id="286" r:id="rId9"/>
    <p:sldId id="287" r:id="rId10"/>
    <p:sldId id="288" r:id="rId11"/>
    <p:sldId id="318" r:id="rId12"/>
    <p:sldId id="290" r:id="rId13"/>
    <p:sldId id="291" r:id="rId14"/>
    <p:sldId id="292" r:id="rId15"/>
    <p:sldId id="293" r:id="rId16"/>
    <p:sldId id="310" r:id="rId17"/>
    <p:sldId id="311" r:id="rId18"/>
    <p:sldId id="312" r:id="rId19"/>
    <p:sldId id="313" r:id="rId20"/>
    <p:sldId id="314" r:id="rId21"/>
    <p:sldId id="294" r:id="rId22"/>
    <p:sldId id="295" r:id="rId23"/>
    <p:sldId id="296" r:id="rId24"/>
    <p:sldId id="297" r:id="rId25"/>
    <p:sldId id="316" r:id="rId26"/>
    <p:sldId id="319" r:id="rId27"/>
    <p:sldId id="317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329" r:id="rId3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0719" autoAdjust="0"/>
  </p:normalViewPr>
  <p:slideViewPr>
    <p:cSldViewPr snapToGrid="0">
      <p:cViewPr varScale="1">
        <p:scale>
          <a:sx n="60" d="100"/>
          <a:sy n="60" d="100"/>
        </p:scale>
        <p:origin x="12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2C122-6047-4DF2-B658-83EED2B0EF1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040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mp"/><Relationship Id="rId3" Type="http://schemas.openxmlformats.org/officeDocument/2006/relationships/image" Target="../media/image2.tmp"/><Relationship Id="rId7" Type="http://schemas.openxmlformats.org/officeDocument/2006/relationships/image" Target="../media/image6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tm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tmp"/><Relationship Id="rId4" Type="http://schemas.openxmlformats.org/officeDocument/2006/relationships/image" Target="../media/image21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tmp"/><Relationship Id="rId5" Type="http://schemas.openxmlformats.org/officeDocument/2006/relationships/image" Target="../media/image25.tmp"/><Relationship Id="rId4" Type="http://schemas.openxmlformats.org/officeDocument/2006/relationships/image" Target="../media/image24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7" Type="http://schemas.openxmlformats.org/officeDocument/2006/relationships/image" Target="../media/image30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mp"/><Relationship Id="rId5" Type="http://schemas.openxmlformats.org/officeDocument/2006/relationships/image" Target="../media/image29.tmp"/><Relationship Id="rId4" Type="http://schemas.openxmlformats.org/officeDocument/2006/relationships/image" Target="../media/image28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tm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tmp"/><Relationship Id="rId3" Type="http://schemas.openxmlformats.org/officeDocument/2006/relationships/image" Target="../media/image35.tmp"/><Relationship Id="rId7" Type="http://schemas.openxmlformats.org/officeDocument/2006/relationships/image" Target="../media/image39.tmp"/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tmp"/><Relationship Id="rId5" Type="http://schemas.openxmlformats.org/officeDocument/2006/relationships/image" Target="../media/image37.tmp"/><Relationship Id="rId4" Type="http://schemas.openxmlformats.org/officeDocument/2006/relationships/image" Target="../media/image36.tmp"/><Relationship Id="rId9" Type="http://schemas.openxmlformats.org/officeDocument/2006/relationships/image" Target="../media/image41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tmp"/><Relationship Id="rId5" Type="http://schemas.openxmlformats.org/officeDocument/2006/relationships/image" Target="../media/image43.tmp"/><Relationship Id="rId4" Type="http://schemas.openxmlformats.org/officeDocument/2006/relationships/image" Target="../media/image42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tmp"/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tmp"/><Relationship Id="rId5" Type="http://schemas.openxmlformats.org/officeDocument/2006/relationships/image" Target="../media/image48.tmp"/><Relationship Id="rId4" Type="http://schemas.openxmlformats.org/officeDocument/2006/relationships/image" Target="../media/image47.tm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tmp"/><Relationship Id="rId2" Type="http://schemas.openxmlformats.org/officeDocument/2006/relationships/image" Target="../media/image50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tmp"/><Relationship Id="rId5" Type="http://schemas.openxmlformats.org/officeDocument/2006/relationships/image" Target="../media/image53.tmp"/><Relationship Id="rId4" Type="http://schemas.openxmlformats.org/officeDocument/2006/relationships/image" Target="../media/image52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tmp"/><Relationship Id="rId2" Type="http://schemas.openxmlformats.org/officeDocument/2006/relationships/image" Target="../media/image55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tmp"/><Relationship Id="rId2" Type="http://schemas.openxmlformats.org/officeDocument/2006/relationships/image" Target="../media/image5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tm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tmp"/><Relationship Id="rId2" Type="http://schemas.openxmlformats.org/officeDocument/2006/relationships/image" Target="../media/image59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tm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tmp"/><Relationship Id="rId2" Type="http://schemas.openxmlformats.org/officeDocument/2006/relationships/image" Target="../media/image61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tmp"/><Relationship Id="rId7" Type="http://schemas.openxmlformats.org/officeDocument/2006/relationships/image" Target="../media/image66.tmp"/><Relationship Id="rId2" Type="http://schemas.openxmlformats.org/officeDocument/2006/relationships/image" Target="../media/image63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tmp"/><Relationship Id="rId5" Type="http://schemas.openxmlformats.org/officeDocument/2006/relationships/image" Target="../media/image62.tmp"/><Relationship Id="rId4" Type="http://schemas.openxmlformats.org/officeDocument/2006/relationships/image" Target="../media/image65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tmp"/><Relationship Id="rId7" Type="http://schemas.openxmlformats.org/officeDocument/2006/relationships/image" Target="../media/image70.tmp"/><Relationship Id="rId2" Type="http://schemas.openxmlformats.org/officeDocument/2006/relationships/image" Target="../media/image61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tmp"/><Relationship Id="rId5" Type="http://schemas.openxmlformats.org/officeDocument/2006/relationships/image" Target="../media/image68.tmp"/><Relationship Id="rId4" Type="http://schemas.openxmlformats.org/officeDocument/2006/relationships/image" Target="../media/image67.tm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tmp"/><Relationship Id="rId7" Type="http://schemas.openxmlformats.org/officeDocument/2006/relationships/image" Target="../media/image74.tmp"/><Relationship Id="rId2" Type="http://schemas.openxmlformats.org/officeDocument/2006/relationships/image" Target="../media/image61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tmp"/><Relationship Id="rId5" Type="http://schemas.openxmlformats.org/officeDocument/2006/relationships/image" Target="../media/image72.tmp"/><Relationship Id="rId4" Type="http://schemas.openxmlformats.org/officeDocument/2006/relationships/image" Target="../media/image71.tmp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tmp"/><Relationship Id="rId3" Type="http://schemas.openxmlformats.org/officeDocument/2006/relationships/image" Target="../media/image76.tmp"/><Relationship Id="rId7" Type="http://schemas.openxmlformats.org/officeDocument/2006/relationships/image" Target="../media/image80.tmp"/><Relationship Id="rId2" Type="http://schemas.openxmlformats.org/officeDocument/2006/relationships/image" Target="../media/image7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tmp"/><Relationship Id="rId5" Type="http://schemas.openxmlformats.org/officeDocument/2006/relationships/image" Target="../media/image78.tmp"/><Relationship Id="rId4" Type="http://schemas.openxmlformats.org/officeDocument/2006/relationships/image" Target="../media/image77.tm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tmp"/><Relationship Id="rId2" Type="http://schemas.openxmlformats.org/officeDocument/2006/relationships/image" Target="../media/image61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tmp"/><Relationship Id="rId4" Type="http://schemas.openxmlformats.org/officeDocument/2006/relationships/image" Target="../media/image82.tm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tmp"/><Relationship Id="rId2" Type="http://schemas.openxmlformats.org/officeDocument/2006/relationships/image" Target="../media/image82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tmp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tmp"/><Relationship Id="rId3" Type="http://schemas.openxmlformats.org/officeDocument/2006/relationships/image" Target="../media/image86.tmp"/><Relationship Id="rId7" Type="http://schemas.openxmlformats.org/officeDocument/2006/relationships/image" Target="../media/image90.tmp"/><Relationship Id="rId2" Type="http://schemas.openxmlformats.org/officeDocument/2006/relationships/image" Target="../media/image8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tmp"/><Relationship Id="rId5" Type="http://schemas.openxmlformats.org/officeDocument/2006/relationships/image" Target="../media/image88.tmp"/><Relationship Id="rId4" Type="http://schemas.openxmlformats.org/officeDocument/2006/relationships/image" Target="../media/image87.tm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tmp"/><Relationship Id="rId2" Type="http://schemas.openxmlformats.org/officeDocument/2006/relationships/image" Target="../media/image92.tmp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tmp"/><Relationship Id="rId2" Type="http://schemas.openxmlformats.org/officeDocument/2006/relationships/image" Target="../media/image94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tmp"/><Relationship Id="rId5" Type="http://schemas.openxmlformats.org/officeDocument/2006/relationships/image" Target="../media/image97.tmp"/><Relationship Id="rId4" Type="http://schemas.openxmlformats.org/officeDocument/2006/relationships/image" Target="../media/image96.tmp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tmp"/><Relationship Id="rId3" Type="http://schemas.openxmlformats.org/officeDocument/2006/relationships/image" Target="../media/image100.tmp"/><Relationship Id="rId7" Type="http://schemas.openxmlformats.org/officeDocument/2006/relationships/image" Target="../media/image104.tmp"/><Relationship Id="rId2" Type="http://schemas.openxmlformats.org/officeDocument/2006/relationships/image" Target="../media/image99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tmp"/><Relationship Id="rId5" Type="http://schemas.openxmlformats.org/officeDocument/2006/relationships/image" Target="../media/image102.tmp"/><Relationship Id="rId4" Type="http://schemas.openxmlformats.org/officeDocument/2006/relationships/image" Target="../media/image101.tm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tmp"/><Relationship Id="rId7" Type="http://schemas.openxmlformats.org/officeDocument/2006/relationships/image" Target="../media/image102.tmp"/><Relationship Id="rId2" Type="http://schemas.openxmlformats.org/officeDocument/2006/relationships/image" Target="../media/image106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tmp"/><Relationship Id="rId5" Type="http://schemas.openxmlformats.org/officeDocument/2006/relationships/image" Target="../media/image109.tmp"/><Relationship Id="rId4" Type="http://schemas.openxmlformats.org/officeDocument/2006/relationships/image" Target="../media/image108.tm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tmp"/><Relationship Id="rId2" Type="http://schemas.openxmlformats.org/officeDocument/2006/relationships/image" Target="../media/image111.tmp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tmp"/><Relationship Id="rId2" Type="http://schemas.openxmlformats.org/officeDocument/2006/relationships/image" Target="../media/image113.tmp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tmp"/><Relationship Id="rId2" Type="http://schemas.openxmlformats.org/officeDocument/2006/relationships/image" Target="../media/image115.tmp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E55AB-6FBF-B0C9-8397-B1AFFFCA7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014" y="420612"/>
            <a:ext cx="10866474" cy="4991358"/>
          </a:xfrm>
        </p:spPr>
        <p:txBody>
          <a:bodyPr>
            <a:normAutofit/>
          </a:bodyPr>
          <a:lstStyle/>
          <a:p>
            <a:r>
              <a:rPr lang="en-US" dirty="0"/>
              <a:t>Logistic Regression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Multi-Class Classification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Hyperparameter Optimization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054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31AC4-242B-6306-AB63-102D9C747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classification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FDAB41-C80D-6431-C0DB-727054FB7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23" y="2029591"/>
            <a:ext cx="1447875" cy="51437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253DE13-BC44-5B40-A47F-631D84FF5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406" y="2082756"/>
            <a:ext cx="2438531" cy="5143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04636D-98CF-775B-1A85-3563855AA7D1}"/>
              </a:ext>
            </a:extLst>
          </p:cNvPr>
          <p:cNvSpPr txBox="1"/>
          <p:nvPr/>
        </p:nvSpPr>
        <p:spPr>
          <a:xfrm>
            <a:off x="838200" y="1507710"/>
            <a:ext cx="6874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Let’s consider two-class classification problem</a:t>
            </a:r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C790225-9C07-2755-D23F-18CFD5A251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76" y="2702119"/>
            <a:ext cx="3789128" cy="52322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848EFD-8064-1E0A-A363-CD9824070C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22" y="3354566"/>
            <a:ext cx="5990585" cy="90941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7DF914-7CD0-F119-CF90-E4F0C0576C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958" y="4316818"/>
            <a:ext cx="2006625" cy="50800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5E8FA12-D627-6C7F-4515-23F37A5293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394" y="5073090"/>
            <a:ext cx="5156568" cy="90941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2AD11CC-4D96-310A-DF77-C12DAB665D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712" y="1507710"/>
            <a:ext cx="4165814" cy="32450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D5B7A5-8CD8-01C9-DAE8-0DFE36DE68BB}"/>
              </a:ext>
            </a:extLst>
          </p:cNvPr>
          <p:cNvSpPr txBox="1"/>
          <p:nvPr/>
        </p:nvSpPr>
        <p:spPr>
          <a:xfrm>
            <a:off x="6453959" y="5032673"/>
            <a:ext cx="2923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Logistic Regression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A1DDC-C0D9-F527-0274-CAFA9BAE2AF6}"/>
              </a:ext>
            </a:extLst>
          </p:cNvPr>
          <p:cNvSpPr txBox="1"/>
          <p:nvPr/>
        </p:nvSpPr>
        <p:spPr>
          <a:xfrm>
            <a:off x="6468132" y="5546581"/>
            <a:ext cx="8586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SVM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883235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A91EE-EC8F-1F80-4647-CFDC11F4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prediction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60C4E6-F304-EFEB-E181-FEC500FBFA28}"/>
              </a:ext>
            </a:extLst>
          </p:cNvPr>
          <p:cNvSpPr txBox="1"/>
          <p:nvPr/>
        </p:nvSpPr>
        <p:spPr>
          <a:xfrm>
            <a:off x="838201" y="1467293"/>
            <a:ext cx="8199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Suppose we want together with class label also predict the probability / confidence of our prediction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3F462F-F87D-A620-47B8-61CB84CECD37}"/>
              </a:ext>
            </a:extLst>
          </p:cNvPr>
          <p:cNvSpPr txBox="1"/>
          <p:nvPr/>
        </p:nvSpPr>
        <p:spPr>
          <a:xfrm>
            <a:off x="839968" y="3168502"/>
            <a:ext cx="58464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Example: Internet advertisement sales 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AA7D07E-5F0B-C900-8035-730E0D335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725" y="1923080"/>
            <a:ext cx="1663540" cy="50859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BCD4FD7-6CC7-3CF7-AD6E-921CD2A28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751" y="3948968"/>
            <a:ext cx="7770541" cy="176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72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AEA532-2AAE-4F47-032F-B7E6820BD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prediction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B4A87-2467-0480-7C32-B8DD5DB5C856}"/>
              </a:ext>
            </a:extLst>
          </p:cNvPr>
          <p:cNvSpPr txBox="1"/>
          <p:nvPr/>
        </p:nvSpPr>
        <p:spPr>
          <a:xfrm>
            <a:off x="838200" y="1573617"/>
            <a:ext cx="110596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predict probability with linear models we need to define a monotonic transformation from linear score             to probabilities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E5EC562-9A79-4E64-AA35-E1A6C1AF3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859" y="1951047"/>
            <a:ext cx="836760" cy="56604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5FA289B-1E71-693C-43EB-B20F24196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678" y="2043602"/>
            <a:ext cx="1697667" cy="4686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B208BC-F031-0623-58BD-F581478D6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732" y="2792261"/>
            <a:ext cx="5099679" cy="382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36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AEA532-2AAE-4F47-032F-B7E6820BD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prediction (Probit Regression)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380D20-27BA-C427-00B0-6FA32DCC3CAC}"/>
              </a:ext>
            </a:extLst>
          </p:cNvPr>
          <p:cNvSpPr txBox="1"/>
          <p:nvPr/>
        </p:nvSpPr>
        <p:spPr>
          <a:xfrm>
            <a:off x="847337" y="1492851"/>
            <a:ext cx="112418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Possible choice of transformation function: </a:t>
            </a:r>
          </a:p>
          <a:p>
            <a:r>
              <a:rPr lang="en-US" sz="2800" dirty="0"/>
              <a:t>cumulative density function (</a:t>
            </a:r>
            <a:r>
              <a:rPr lang="en-US" sz="2800" dirty="0" err="1"/>
              <a:t>cdf</a:t>
            </a:r>
            <a:r>
              <a:rPr lang="en-US" sz="2800" dirty="0"/>
              <a:t>) of a standard normal variable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481B400-A86A-FC15-7EDD-F450500EF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35" y="2592114"/>
            <a:ext cx="1736648" cy="52322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9A8B424-36B4-A23D-C38D-60FD254E0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62169"/>
            <a:ext cx="7823303" cy="112879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A4190B7-3A57-568A-0F58-7DFAA60B48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4" y="4194520"/>
            <a:ext cx="2701448" cy="5541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A54F22E-C0BF-E696-E13A-752E2CF5F0C0}"/>
              </a:ext>
            </a:extLst>
          </p:cNvPr>
          <p:cNvSpPr txBox="1"/>
          <p:nvPr/>
        </p:nvSpPr>
        <p:spPr>
          <a:xfrm>
            <a:off x="847337" y="4878467"/>
            <a:ext cx="5475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Drawback: hard to deal with integral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38038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11E6CD-7F7D-C768-EE14-1756725F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prediction (Logistic Regression)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8C6E4C-434A-5475-0157-FF360843684F}"/>
              </a:ext>
            </a:extLst>
          </p:cNvPr>
          <p:cNvSpPr txBox="1"/>
          <p:nvPr/>
        </p:nvSpPr>
        <p:spPr>
          <a:xfrm>
            <a:off x="838200" y="1690688"/>
            <a:ext cx="5719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Alternative: sigmoid (logistic) function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26A58A4-25A3-E99D-B6B2-57C17B9A4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685" y="2293374"/>
            <a:ext cx="4706197" cy="97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45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5A21EA-4CD7-5906-A8CE-5A6EE9C21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prediction: Loss function view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1A0D98-43C1-EF59-1F99-3D865EEEC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846" y="1701322"/>
            <a:ext cx="2500995" cy="523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7AB3ECD-104E-B4DE-44AB-EDB798EED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178" y="2167096"/>
            <a:ext cx="4111489" cy="13255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504568-8BE4-79CE-7DC4-AFC2A5610F27}"/>
              </a:ext>
            </a:extLst>
          </p:cNvPr>
          <p:cNvSpPr txBox="1"/>
          <p:nvPr/>
        </p:nvSpPr>
        <p:spPr>
          <a:xfrm>
            <a:off x="838200" y="1690688"/>
            <a:ext cx="34250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Probability prediction: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A87FC4-C2BA-CB76-DBD2-BF3CBB6F9755}"/>
              </a:ext>
            </a:extLst>
          </p:cNvPr>
          <p:cNvSpPr txBox="1"/>
          <p:nvPr/>
        </p:nvSpPr>
        <p:spPr>
          <a:xfrm>
            <a:off x="838200" y="2535561"/>
            <a:ext cx="3018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 procedure: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7556F-F89D-2BE7-03DB-AB006CE693E2}"/>
              </a:ext>
            </a:extLst>
          </p:cNvPr>
          <p:cNvSpPr txBox="1"/>
          <p:nvPr/>
        </p:nvSpPr>
        <p:spPr>
          <a:xfrm>
            <a:off x="838200" y="3682750"/>
            <a:ext cx="82632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Problem: how to introduce a proper loss function that would correspond to learning correct probabilities?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47911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B679D9-A130-3957-1DA9-C2F03E5F4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probabilities</a:t>
            </a:r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30E6782-21C3-F469-8049-337433F81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743" y="4734626"/>
            <a:ext cx="5290748" cy="71645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240239-7872-87E2-658A-77A406D0F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785" y="1595816"/>
            <a:ext cx="3185931" cy="28352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A82327-1AB4-56F2-666A-358322AF76B2}"/>
              </a:ext>
            </a:extLst>
          </p:cNvPr>
          <p:cNvSpPr txBox="1"/>
          <p:nvPr/>
        </p:nvSpPr>
        <p:spPr>
          <a:xfrm>
            <a:off x="583859" y="3677958"/>
            <a:ext cx="80078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requirement for loss function to predict probabilities:</a:t>
            </a:r>
            <a:endParaRPr lang="ru-RU" sz="2800" dirty="0"/>
          </a:p>
        </p:txBody>
      </p:sp>
      <p:pic>
        <p:nvPicPr>
          <p:cNvPr id="13" name="Рисунок 12" descr="Изображение выглядит как Шрифт, типография, рукописный текст, калли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7D707A6-7335-738C-FD2B-F17E51FE4B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062" y="1595816"/>
            <a:ext cx="2937138" cy="445280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типография, Шрифт, каллиграфия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78335FE-7EE8-F271-BEF0-BA62B56CA3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447" y="2747513"/>
            <a:ext cx="4003753" cy="5478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7B27E50-ED5D-C2D5-85FD-3FF6EB8060C2}"/>
              </a:ext>
            </a:extLst>
          </p:cNvPr>
          <p:cNvSpPr txBox="1"/>
          <p:nvPr/>
        </p:nvSpPr>
        <p:spPr>
          <a:xfrm>
            <a:off x="555284" y="1502933"/>
            <a:ext cx="3854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 generative process: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F25E52-86D5-D7A9-E4CF-787F336647CB}"/>
              </a:ext>
            </a:extLst>
          </p:cNvPr>
          <p:cNvSpPr txBox="1"/>
          <p:nvPr/>
        </p:nvSpPr>
        <p:spPr>
          <a:xfrm>
            <a:off x="553549" y="2082547"/>
            <a:ext cx="4494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Loss function on population: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64357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E7C59D-05D0-07AE-D93F-FB44AD43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quadratic loss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0E5652D-547E-0935-38DD-F55609E1F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182" y="2928673"/>
            <a:ext cx="4829763" cy="6540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E4C8CC-2910-EDF2-570A-4EF7BB78F924}"/>
              </a:ext>
            </a:extLst>
          </p:cNvPr>
          <p:cNvSpPr txBox="1"/>
          <p:nvPr/>
        </p:nvSpPr>
        <p:spPr>
          <a:xfrm>
            <a:off x="721242" y="2875508"/>
            <a:ext cx="2743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Desired property:</a:t>
            </a:r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E3B256-77E0-6114-9A31-060DB5A71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17" y="3760374"/>
            <a:ext cx="7706454" cy="83873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A96A8E5-0488-D7D7-398D-22DBE3B80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980" y="4410858"/>
            <a:ext cx="4197796" cy="66172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787E059-5576-05AE-2ADD-A3AA062B9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566" y="5067797"/>
            <a:ext cx="7174689" cy="8387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BE0E15-FD50-7BC4-CBA6-4E6457AE91D5}"/>
              </a:ext>
            </a:extLst>
          </p:cNvPr>
          <p:cNvSpPr txBox="1"/>
          <p:nvPr/>
        </p:nvSpPr>
        <p:spPr>
          <a:xfrm>
            <a:off x="719475" y="5962345"/>
            <a:ext cx="80201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Result: quadratic loss correctly estimates probabilities</a:t>
            </a:r>
            <a:endParaRPr lang="ru-RU" sz="2800" dirty="0"/>
          </a:p>
        </p:txBody>
      </p:sp>
      <p:pic>
        <p:nvPicPr>
          <p:cNvPr id="6" name="Рисунок 5" descr="Изображение выглядит как текст, Шрифт, рукописный текст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AC03B82-D1E7-0A9E-61EB-AA5EEBF46B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23794"/>
            <a:ext cx="5911487" cy="98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9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F059D6-C60E-60A0-9692-CCA9AC8E5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quadratic loss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1EC8D5-F1E5-82F9-66CD-00855EFFC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45" y="1435398"/>
            <a:ext cx="3536441" cy="52554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6C52C2-0128-134B-0B4B-7FA75200DE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406" y="1971570"/>
            <a:ext cx="5954307" cy="9417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A62697-10E1-3A24-9F55-412A7FE6A679}"/>
              </a:ext>
            </a:extLst>
          </p:cNvPr>
          <p:cNvSpPr txBox="1"/>
          <p:nvPr/>
        </p:nvSpPr>
        <p:spPr>
          <a:xfrm>
            <a:off x="914398" y="2147343"/>
            <a:ext cx="1432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Training:</a:t>
            </a:r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5A43033-145A-E778-C513-B5A24B073B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36" y="2918991"/>
            <a:ext cx="7190148" cy="10363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A15AFD-D740-EDAF-D001-E3593B10C628}"/>
              </a:ext>
            </a:extLst>
          </p:cNvPr>
          <p:cNvSpPr txBox="1"/>
          <p:nvPr/>
        </p:nvSpPr>
        <p:spPr>
          <a:xfrm>
            <a:off x="905621" y="4006680"/>
            <a:ext cx="7611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Here we may deal with vanishing gradient problem</a:t>
            </a:r>
            <a:endParaRPr lang="ru-RU"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0A03F1-3B44-2E4D-4F2D-704AC058AC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7152" y="949105"/>
            <a:ext cx="3410878" cy="255690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F2A07CF-EB1E-7127-2087-CBDA4C5A3F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888" y="4406514"/>
            <a:ext cx="3279754" cy="24514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D40983-2544-286B-5FBE-0B8CA683A374}"/>
              </a:ext>
            </a:extLst>
          </p:cNvPr>
          <p:cNvSpPr txBox="1"/>
          <p:nvPr/>
        </p:nvSpPr>
        <p:spPr>
          <a:xfrm>
            <a:off x="9335386" y="365125"/>
            <a:ext cx="2648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Sigmoid function</a:t>
            </a:r>
            <a:endParaRPr lang="ru-RU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E0B645-47E3-6968-EFF6-7A32B29A950A}"/>
              </a:ext>
            </a:extLst>
          </p:cNvPr>
          <p:cNvSpPr txBox="1"/>
          <p:nvPr/>
        </p:nvSpPr>
        <p:spPr>
          <a:xfrm>
            <a:off x="8814390" y="3497945"/>
            <a:ext cx="34108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Derivative of sigmoid function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40516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FA8F77-369C-E94A-9C6A-DC61ABA3B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L1 loss</a:t>
            </a:r>
            <a:endParaRPr lang="ru-RU" dirty="0"/>
          </a:p>
        </p:txBody>
      </p:sp>
      <p:pic>
        <p:nvPicPr>
          <p:cNvPr id="5" name="Рисунок 4" descr="Изображение выглядит как текст, Шрифт, линия, типо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64D744C-6D2B-AAED-7028-83BA02876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99" y="1495071"/>
            <a:ext cx="5764863" cy="98142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A765F2-8C60-8002-5E95-15AC00314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48" y="2776518"/>
            <a:ext cx="9934563" cy="709612"/>
          </a:xfrm>
          <a:prstGeom prst="rect">
            <a:avLst/>
          </a:prstGeom>
        </p:spPr>
      </p:pic>
      <p:pic>
        <p:nvPicPr>
          <p:cNvPr id="9" name="Рисунок 8" descr="Изображение выглядит как Шрифт, типо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5CC0C7E-8473-5619-8DF7-F51E9182E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719" y="3599402"/>
            <a:ext cx="3752931" cy="19451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D1D5AE-8488-F758-5BAD-6CE2D4C87DF6}"/>
              </a:ext>
            </a:extLst>
          </p:cNvPr>
          <p:cNvSpPr txBox="1"/>
          <p:nvPr/>
        </p:nvSpPr>
        <p:spPr>
          <a:xfrm>
            <a:off x="890925" y="5962345"/>
            <a:ext cx="8333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Result: L1 loss does not correctly estimate probabilities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267350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9ABC8-3AE3-E997-8853-80081F4E5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Probability prediction: probabilistic view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4A3C28-0F88-6B52-2996-86D4171E4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297" y="2688069"/>
            <a:ext cx="6148159" cy="81470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B82BF56-6DAA-ABF0-C839-31F905956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07289"/>
            <a:ext cx="6136928" cy="52322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3E2F1F3-8A0D-E111-C6EC-A39431924F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832" y="3500041"/>
            <a:ext cx="5781005" cy="97802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B62F4FD-55E3-4C5F-642A-3E1B073E44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977794"/>
            <a:ext cx="9279861" cy="48453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91E457C-B140-5DAF-D148-5B1CDC7D19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631" y="1517913"/>
            <a:ext cx="1649539" cy="41519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5FA0D1C-97A5-18F7-71B4-69D96C128C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742" y="1493445"/>
            <a:ext cx="2975188" cy="4609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E022F3-FD72-115F-75AB-D46AFB9C1D78}"/>
              </a:ext>
            </a:extLst>
          </p:cNvPr>
          <p:cNvSpPr txBox="1"/>
          <p:nvPr/>
        </p:nvSpPr>
        <p:spPr>
          <a:xfrm>
            <a:off x="789495" y="1431877"/>
            <a:ext cx="1394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Dataset:</a:t>
            </a:r>
            <a:endParaRPr lang="ru-RU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A92298-7DD7-344E-6B95-834F35ECB933}"/>
              </a:ext>
            </a:extLst>
          </p:cNvPr>
          <p:cNvSpPr txBox="1"/>
          <p:nvPr/>
        </p:nvSpPr>
        <p:spPr>
          <a:xfrm>
            <a:off x="4409652" y="1441802"/>
            <a:ext cx="3068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Probabilistic model:</a:t>
            </a:r>
            <a:endParaRPr lang="ru-RU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B2EDF1-8D91-DFFD-FB9F-C361177CCC57}"/>
              </a:ext>
            </a:extLst>
          </p:cNvPr>
          <p:cNvSpPr txBox="1"/>
          <p:nvPr/>
        </p:nvSpPr>
        <p:spPr>
          <a:xfrm>
            <a:off x="816934" y="2798543"/>
            <a:ext cx="306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Likelihood function:</a:t>
            </a:r>
            <a:endParaRPr lang="ru-RU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FE9B67-F5B0-0960-77F9-AD9379B3FF7D}"/>
              </a:ext>
            </a:extLst>
          </p:cNvPr>
          <p:cNvSpPr txBox="1"/>
          <p:nvPr/>
        </p:nvSpPr>
        <p:spPr>
          <a:xfrm>
            <a:off x="838200" y="6043497"/>
            <a:ext cx="3370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Logistic loss (log loss):</a:t>
            </a:r>
            <a:endParaRPr lang="ru-RU" sz="28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F4E2FF3-8C02-9C1B-847C-215B971298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099" y="5064977"/>
            <a:ext cx="8669104" cy="960127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860F1F3-532F-CE18-4DC0-F2C487757B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046" y="6086618"/>
            <a:ext cx="7237855" cy="52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157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77145E-2D28-4D4C-3117-96F00BBE0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probabilities with logistic loss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EF0F71-21E6-401B-6D2D-049F9D0F1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182" y="2109523"/>
            <a:ext cx="4829763" cy="6540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B3613C-967F-3847-ED6B-CD514B5FB648}"/>
              </a:ext>
            </a:extLst>
          </p:cNvPr>
          <p:cNvSpPr txBox="1"/>
          <p:nvPr/>
        </p:nvSpPr>
        <p:spPr>
          <a:xfrm>
            <a:off x="721242" y="2056358"/>
            <a:ext cx="2743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Desired property: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1D6D5C-2DFD-8096-E1A2-3F385C46CBDB}"/>
              </a:ext>
            </a:extLst>
          </p:cNvPr>
          <p:cNvSpPr txBox="1"/>
          <p:nvPr/>
        </p:nvSpPr>
        <p:spPr>
          <a:xfrm>
            <a:off x="719475" y="5143195"/>
            <a:ext cx="7653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Result: logistic loss correctly estimates probabilities</a:t>
            </a:r>
            <a:endParaRPr lang="ru-RU" sz="28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581F2FA-BD04-2C1D-4704-7668AD27F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450" y="1448213"/>
            <a:ext cx="7237855" cy="52321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F63BB2F-BEDD-D089-7EB8-83FE596114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34" y="2796321"/>
            <a:ext cx="9104512" cy="94975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FB0C3EF-5BC9-19C7-C4E8-94A16B357C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986" y="3397103"/>
            <a:ext cx="5200597" cy="65403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550F1F8-619A-18D1-B321-F28F4D141E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436" y="4027798"/>
            <a:ext cx="5872648" cy="83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184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EE5EDC-93B7-8A9F-017A-354EE538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B285F0-ADB6-6A40-32B4-5B96BF013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776" y="1539202"/>
            <a:ext cx="2388535" cy="45971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6E2E5E1-A6C7-485A-26BA-6EAD4189E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854" y="1967025"/>
            <a:ext cx="10011558" cy="8552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7A9B3E-8C5E-C6D3-62BA-93375E5A994F}"/>
              </a:ext>
            </a:extLst>
          </p:cNvPr>
          <p:cNvSpPr txBox="1"/>
          <p:nvPr/>
        </p:nvSpPr>
        <p:spPr>
          <a:xfrm>
            <a:off x="850569" y="1499520"/>
            <a:ext cx="34250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Probability prediction: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525920-A58A-17FA-9A83-A79DF9904539}"/>
              </a:ext>
            </a:extLst>
          </p:cNvPr>
          <p:cNvSpPr txBox="1"/>
          <p:nvPr/>
        </p:nvSpPr>
        <p:spPr>
          <a:xfrm>
            <a:off x="850569" y="2931845"/>
            <a:ext cx="36954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Logistic loss for training:</a:t>
            </a:r>
            <a:endParaRPr lang="ru-RU" sz="28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9395A4A-F4A6-F0DD-F191-7B0A45E97E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16" y="3453028"/>
            <a:ext cx="8617879" cy="91114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27BF0D3-2F60-1E03-753A-A44FC5D7B0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904" y="4364172"/>
            <a:ext cx="7733455" cy="95462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D144777-2154-09F9-E5DE-A70D0B0E85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273" y="5318798"/>
            <a:ext cx="8094855" cy="95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85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6C3B0C-1B55-244A-6766-DF2FCF5D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vs. SVM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2DED32-25C0-0FDC-BD01-EE89CB2FADCC}"/>
              </a:ext>
            </a:extLst>
          </p:cNvPr>
          <p:cNvSpPr txBox="1"/>
          <p:nvPr/>
        </p:nvSpPr>
        <p:spPr>
          <a:xfrm>
            <a:off x="838200" y="1690687"/>
            <a:ext cx="68704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SVM loss doesn’t penalize any margins greater than 1. This usually leads to better performance in terms of accuracy, F-measure, ROC-AUC, etc.</a:t>
            </a:r>
            <a:endParaRPr lang="ru-RU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E871F0-3573-04D7-7730-E47A7298E86F}"/>
              </a:ext>
            </a:extLst>
          </p:cNvPr>
          <p:cNvSpPr txBox="1"/>
          <p:nvPr/>
        </p:nvSpPr>
        <p:spPr>
          <a:xfrm>
            <a:off x="838200" y="3949720"/>
            <a:ext cx="68704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Logistic loss is minimized for margins tending to infinity. This usually leads to better probability calibration.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ECF261-367A-E819-6BB2-C40468FCE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712" y="1773532"/>
            <a:ext cx="4165814" cy="32450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A2E1D1-4DE0-2DAF-4081-BE75E75905B6}"/>
              </a:ext>
            </a:extLst>
          </p:cNvPr>
          <p:cNvSpPr txBox="1"/>
          <p:nvPr/>
        </p:nvSpPr>
        <p:spPr>
          <a:xfrm>
            <a:off x="838199" y="5726126"/>
            <a:ext cx="7391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linearly separable datasets logistic regression can’t be trained without </a:t>
            </a:r>
            <a:r>
              <a:rPr lang="en-US" sz="2800" dirty="0" err="1"/>
              <a:t>regularizer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70818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FD7CF-02AF-F44D-1FA9-DB59DFC2D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calibration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30F577-7405-AA2D-1BE7-0980C6879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558" y="3498107"/>
            <a:ext cx="6418638" cy="31914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91FC65-16E8-F352-6454-2CE39BDE6CD8}"/>
              </a:ext>
            </a:extLst>
          </p:cNvPr>
          <p:cNvSpPr txBox="1"/>
          <p:nvPr/>
        </p:nvSpPr>
        <p:spPr>
          <a:xfrm>
            <a:off x="838200" y="1616256"/>
            <a:ext cx="7710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take some classifier that output probabilities</a:t>
            </a:r>
            <a:endParaRPr lang="ru-RU" sz="2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1C1B5D7-BDA9-AB36-3177-38ACC175E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207" y="1664675"/>
            <a:ext cx="694836" cy="4854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F26322-CF0D-885C-57BD-6D9798D398F1}"/>
              </a:ext>
            </a:extLst>
          </p:cNvPr>
          <p:cNvSpPr txBox="1"/>
          <p:nvPr/>
        </p:nvSpPr>
        <p:spPr>
          <a:xfrm>
            <a:off x="852375" y="2151436"/>
            <a:ext cx="3551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SVM we may take:</a:t>
            </a:r>
            <a:endParaRPr lang="ru-RU" sz="28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1B80E09-9F99-1F65-E195-F37E590E6C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335" y="2192448"/>
            <a:ext cx="2191940" cy="4903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E86CC5F-3DEE-61B0-9F63-3A50C6B1E8E8}"/>
              </a:ext>
            </a:extLst>
          </p:cNvPr>
          <p:cNvSpPr txBox="1"/>
          <p:nvPr/>
        </p:nvSpPr>
        <p:spPr>
          <a:xfrm>
            <a:off x="855917" y="2739771"/>
            <a:ext cx="56962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split [0,1] interval into a set of non-intersecting bins: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330DDBF-9B6D-7DF0-97C1-26DC831F05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35" y="3750898"/>
            <a:ext cx="3750335" cy="50320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E716C96-2230-3262-E33C-D24DBE24F1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320" y="5294680"/>
            <a:ext cx="3368708" cy="11167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FE92F09-4FE8-C02A-300D-67C4CF01857B}"/>
              </a:ext>
            </a:extLst>
          </p:cNvPr>
          <p:cNvSpPr txBox="1"/>
          <p:nvPr/>
        </p:nvSpPr>
        <p:spPr>
          <a:xfrm>
            <a:off x="855917" y="4376242"/>
            <a:ext cx="45560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Compute for each bin ratio of positive class: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7290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9E4AD-393F-BDDF-9CD6-7557CE202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D6264-DC4A-00A1-CEED-F22E2EBA6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calibration: estimation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C38224-23AC-9FED-DEF1-014DE6604648}"/>
              </a:ext>
            </a:extLst>
          </p:cNvPr>
          <p:cNvSpPr txBox="1"/>
          <p:nvPr/>
        </p:nvSpPr>
        <p:spPr>
          <a:xfrm>
            <a:off x="838200" y="1616256"/>
            <a:ext cx="7710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estimation of probability calibration we may use ECE criterion (Expected Calibration Error):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FA3B46-7F80-F6A2-189F-65FA5ED80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33" y="2719239"/>
            <a:ext cx="5418577" cy="126796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DBD53B0-0448-CDB7-7A04-C78C2A789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23" y="4061197"/>
            <a:ext cx="3368708" cy="11167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537590-2CB7-2764-0452-469A7BA885FA}"/>
              </a:ext>
            </a:extLst>
          </p:cNvPr>
          <p:cNvSpPr txBox="1"/>
          <p:nvPr/>
        </p:nvSpPr>
        <p:spPr>
          <a:xfrm>
            <a:off x="838199" y="5485977"/>
            <a:ext cx="106236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Here other metrics (not only sum of absolute differences) may be used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213901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D21BA-0FBF-AB80-DEC8-B72E0416A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61BEF2-3019-A8EE-6C1C-5EA5F9EA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calibration: Platt scaling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B4E398-5613-5B95-0FA7-2130D2DBE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66" y="2570897"/>
            <a:ext cx="3893395" cy="91844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350DEB-EEB2-2BCD-4B8E-6BB4FAA4D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998" y="4060358"/>
            <a:ext cx="7018537" cy="96221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32D89BF-E223-6547-25F6-708753D170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794" y="4883016"/>
            <a:ext cx="3787200" cy="8691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F54DD8-F7FD-6B33-E975-1B62AE8982DD}"/>
              </a:ext>
            </a:extLst>
          </p:cNvPr>
          <p:cNvSpPr txBox="1"/>
          <p:nvPr/>
        </p:nvSpPr>
        <p:spPr>
          <a:xfrm>
            <a:off x="838200" y="1594990"/>
            <a:ext cx="74126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consider additional transformation on top of estimated probability from classifier: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3EB391-8F43-D8E6-5536-9FE6EEA4BA79}"/>
              </a:ext>
            </a:extLst>
          </p:cNvPr>
          <p:cNvSpPr txBox="1"/>
          <p:nvPr/>
        </p:nvSpPr>
        <p:spPr>
          <a:xfrm>
            <a:off x="838200" y="3511139"/>
            <a:ext cx="9666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Train transformation parameters using appropriate loss function: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8BCB1-F862-ACE9-21E3-E9540C30BE96}"/>
              </a:ext>
            </a:extLst>
          </p:cNvPr>
          <p:cNvSpPr txBox="1"/>
          <p:nvPr/>
        </p:nvSpPr>
        <p:spPr>
          <a:xfrm>
            <a:off x="838200" y="5022577"/>
            <a:ext cx="2213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Alternatively:</a:t>
            </a:r>
            <a:endParaRPr lang="ru-RU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ADC5AA-18AF-6AA2-5F9B-AD37C969F535}"/>
              </a:ext>
            </a:extLst>
          </p:cNvPr>
          <p:cNvSpPr txBox="1"/>
          <p:nvPr/>
        </p:nvSpPr>
        <p:spPr>
          <a:xfrm>
            <a:off x="838201" y="5786321"/>
            <a:ext cx="7550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Important: calibration is made on validation set, otherwise we may have target leak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05556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B7213-F61B-3F7F-A943-CD6CDC5C4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AFEACD-422C-4EBE-7ADF-237C8A44C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calibration: Isotonic Regression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7D77B5-6C56-5D99-FB09-189E06A6F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089" y="1669422"/>
            <a:ext cx="3433642" cy="2616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B258C3-B65A-0896-DEFC-5D1F22A9506B}"/>
              </a:ext>
            </a:extLst>
          </p:cNvPr>
          <p:cNvSpPr txBox="1"/>
          <p:nvPr/>
        </p:nvSpPr>
        <p:spPr>
          <a:xfrm>
            <a:off x="838200" y="1594990"/>
            <a:ext cx="74126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Train monotonic piecewise linear transformation from input probabilities to output probabilities: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F31D432-4BB4-2A12-2A28-1275D39E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82921"/>
            <a:ext cx="2750567" cy="133940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7C17FFE-2184-6C23-9BF9-39BF660216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817" y="2655444"/>
            <a:ext cx="3068380" cy="10171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0348CA-EF45-04CB-D41A-BBBCF902AB4E}"/>
              </a:ext>
            </a:extLst>
          </p:cNvPr>
          <p:cNvSpPr txBox="1"/>
          <p:nvPr/>
        </p:nvSpPr>
        <p:spPr>
          <a:xfrm>
            <a:off x="838200" y="4307022"/>
            <a:ext cx="7657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is QP problem of special type: for solution efficient pool-adjacent-violators algorithm (PAVA) can be used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DE584-2D81-CCE8-C8AC-5DAC9D24A905}"/>
              </a:ext>
            </a:extLst>
          </p:cNvPr>
          <p:cNvSpPr txBox="1"/>
          <p:nvPr/>
        </p:nvSpPr>
        <p:spPr>
          <a:xfrm>
            <a:off x="838200" y="5969655"/>
            <a:ext cx="834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Isotonic Regression is usually applied for big dataset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60606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48818-A39C-0BB2-642B-C6B47E471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4382D-6D48-D869-C11D-AA82CFB51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014" y="1520455"/>
            <a:ext cx="10866474" cy="1881961"/>
          </a:xfrm>
        </p:spPr>
        <p:txBody>
          <a:bodyPr>
            <a:normAutofit/>
          </a:bodyPr>
          <a:lstStyle/>
          <a:p>
            <a:r>
              <a:rPr lang="en-US" dirty="0"/>
              <a:t>Multi-Class Classification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3443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A7C0A-A817-F643-A8E9-6A726B9E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Classification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0A0F59-CF3E-5C25-D70F-47B7624D3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3480"/>
            <a:ext cx="1374234" cy="4779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17CFF9B-AC5B-14F6-6522-091244E953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609" y="1647085"/>
            <a:ext cx="2534474" cy="4779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F481AF-C11D-07C4-F02A-3179D0F57B54}"/>
              </a:ext>
            </a:extLst>
          </p:cNvPr>
          <p:cNvSpPr txBox="1"/>
          <p:nvPr/>
        </p:nvSpPr>
        <p:spPr>
          <a:xfrm>
            <a:off x="914396" y="2254097"/>
            <a:ext cx="996202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Two options:</a:t>
            </a:r>
          </a:p>
          <a:p>
            <a:pPr marL="342900" indent="-342900">
              <a:buAutoNum type="arabicPeriod"/>
            </a:pPr>
            <a:r>
              <a:rPr lang="en-US" sz="2800" dirty="0"/>
              <a:t>Build multi-class classifier using several two-class classifiers</a:t>
            </a:r>
          </a:p>
          <a:p>
            <a:pPr marL="342900" indent="-342900">
              <a:buAutoNum type="arabicPeriod"/>
            </a:pPr>
            <a:r>
              <a:rPr lang="en-US" sz="2800" dirty="0"/>
              <a:t>Directly extend two-class classification model to the general case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246820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7037E2-2B41-3999-3B7A-80401C562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One-vs-All (One-vs-Rest)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157326-774E-A0A4-1FE9-5F2D15534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978" y="2604571"/>
            <a:ext cx="2153716" cy="5232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CEA0C0D-AF6C-5C32-4A66-0887F772E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846" y="4014238"/>
            <a:ext cx="2203368" cy="44067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0DE374-7C7D-1644-7CEF-EEC8DC5599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782" y="4462000"/>
            <a:ext cx="7213682" cy="7324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6252388-7F89-34FF-493B-D2039E6827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609" y="1647085"/>
            <a:ext cx="2534474" cy="47799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84989AE-4232-CC63-5E50-0FF7855376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3480"/>
            <a:ext cx="1374234" cy="4779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33C9DA-03D6-1DC6-AF67-9F462C6FCD9F}"/>
              </a:ext>
            </a:extLst>
          </p:cNvPr>
          <p:cNvSpPr txBox="1"/>
          <p:nvPr/>
        </p:nvSpPr>
        <p:spPr>
          <a:xfrm>
            <a:off x="859466" y="2166435"/>
            <a:ext cx="66683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introduce K separate two-class linear classifiers: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9872B6-7A0C-5923-2B8A-6DDBA9DBD379}"/>
              </a:ext>
            </a:extLst>
          </p:cNvPr>
          <p:cNvSpPr txBox="1"/>
          <p:nvPr/>
        </p:nvSpPr>
        <p:spPr>
          <a:xfrm>
            <a:off x="861733" y="3456906"/>
            <a:ext cx="9287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Each classifier is trained to separate one class from all the rest: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9C4BED-4A27-2B2A-54EC-EB73E4708877}"/>
              </a:ext>
            </a:extLst>
          </p:cNvPr>
          <p:cNvSpPr txBox="1"/>
          <p:nvPr/>
        </p:nvSpPr>
        <p:spPr>
          <a:xfrm>
            <a:off x="859466" y="4476177"/>
            <a:ext cx="2542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Final prediction: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21812A-BD24-1296-8F72-5452750F3E1C}"/>
              </a:ext>
            </a:extLst>
          </p:cNvPr>
          <p:cNvSpPr txBox="1"/>
          <p:nvPr/>
        </p:nvSpPr>
        <p:spPr>
          <a:xfrm>
            <a:off x="859466" y="5622000"/>
            <a:ext cx="64645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drawback: each classifier is trained without any knowledge of others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5543C6-CFFE-5904-B7F1-175C4D900B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848" y="345519"/>
            <a:ext cx="3887595" cy="299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77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A7E20-8BFC-4081-E371-9C84A5C9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All-vs-All (</a:t>
            </a:r>
            <a:r>
              <a:rPr lang="en-US" dirty="0" err="1"/>
              <a:t>AvA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482789-56A2-F0DC-6CCE-99F61DC2E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3480"/>
            <a:ext cx="1374234" cy="47799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C657CA-9BFF-0545-4618-E10774CCB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609" y="1647085"/>
            <a:ext cx="2534474" cy="47799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C19975-2A43-4641-238D-155B5364F3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511" y="2229851"/>
            <a:ext cx="2966825" cy="5073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6A5319A-F8DD-F2DF-69E7-18D30A6F9E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686" y="2859698"/>
            <a:ext cx="3089121" cy="5073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2233BEB-2FFF-08F2-6D48-611A2C6DD1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400" y="3521514"/>
            <a:ext cx="4835627" cy="8612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603A36-38E3-3C6E-8CF3-DE8CBFB7E31C}"/>
              </a:ext>
            </a:extLst>
          </p:cNvPr>
          <p:cNvSpPr txBox="1"/>
          <p:nvPr/>
        </p:nvSpPr>
        <p:spPr>
          <a:xfrm>
            <a:off x="906672" y="2190789"/>
            <a:ext cx="53148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Let’s introduce       linear classifiers:</a:t>
            </a:r>
            <a:endParaRPr lang="ru-RU" sz="28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4911BEE-FCDB-0491-16FA-A1495A7572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673" y="2239925"/>
            <a:ext cx="445597" cy="3949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8849B6-AB72-AA89-BA19-592DE098E934}"/>
              </a:ext>
            </a:extLst>
          </p:cNvPr>
          <p:cNvSpPr txBox="1"/>
          <p:nvPr/>
        </p:nvSpPr>
        <p:spPr>
          <a:xfrm>
            <a:off x="906672" y="2840214"/>
            <a:ext cx="7865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Each classifier separates one class from another one:</a:t>
            </a:r>
            <a:endParaRPr lang="ru-RU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48D516-C704-174C-D33C-63D1248AEC52}"/>
              </a:ext>
            </a:extLst>
          </p:cNvPr>
          <p:cNvSpPr txBox="1"/>
          <p:nvPr/>
        </p:nvSpPr>
        <p:spPr>
          <a:xfrm>
            <a:off x="914990" y="3550413"/>
            <a:ext cx="2542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Final prediction:</a:t>
            </a:r>
            <a:endParaRPr lang="ru-RU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D2B590-BC37-216D-A1C4-2146E5FDC44F}"/>
              </a:ext>
            </a:extLst>
          </p:cNvPr>
          <p:cNvSpPr txBox="1"/>
          <p:nvPr/>
        </p:nvSpPr>
        <p:spPr>
          <a:xfrm>
            <a:off x="906672" y="4484710"/>
            <a:ext cx="998702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AvA</a:t>
            </a:r>
            <a:r>
              <a:rPr lang="en-US" sz="2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usually shows better performance comparing to </a:t>
            </a:r>
            <a:r>
              <a:rPr lang="en-US" sz="2800" dirty="0" err="1"/>
              <a:t>OvA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does not depend on particular score values of separate classifiers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requires training of many classifiers and has many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may be sensitive to lowly-representative classes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861646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E7A971-DD1D-5B8D-2CD8-40EAE2B45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for multi-class case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9EB527-86D9-75A5-78AC-FD1575F0F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3480"/>
            <a:ext cx="1374234" cy="47799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5CF4B4-F4F4-555F-5266-57D9BC9DD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609" y="1647085"/>
            <a:ext cx="2534474" cy="47799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D3A3288-7258-6F3F-9EC2-7EAB431AE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795" y="3482127"/>
            <a:ext cx="1713079" cy="44050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C39B480-2B7A-DB4F-0DD2-DD96A768F7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146" y="2807645"/>
            <a:ext cx="4929889" cy="523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BAC188-78A0-E74B-7274-C0BEBE9A2EC1}"/>
              </a:ext>
            </a:extLst>
          </p:cNvPr>
          <p:cNvSpPr txBox="1"/>
          <p:nvPr/>
        </p:nvSpPr>
        <p:spPr>
          <a:xfrm>
            <a:off x="885095" y="2265093"/>
            <a:ext cx="9197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Logistic regression should produce probabilities for all classes: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2C168-C4C4-0099-0414-8DCB690C83E8}"/>
              </a:ext>
            </a:extLst>
          </p:cNvPr>
          <p:cNvSpPr txBox="1"/>
          <p:nvPr/>
        </p:nvSpPr>
        <p:spPr>
          <a:xfrm>
            <a:off x="885095" y="3429000"/>
            <a:ext cx="4612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Let’s introduce K linear scores:</a:t>
            </a:r>
            <a:endParaRPr lang="ru-RU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8E8DE65-8ECC-6329-C29B-BDFB0CC73F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494" y="4092887"/>
            <a:ext cx="2910017" cy="42853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5CC0E05-0C65-BCDB-1149-FE61586B0C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722" y="3918910"/>
            <a:ext cx="5440704" cy="95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01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EF6CB-FE97-08CD-F226-DB59320A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B9261C-AA92-EAE5-130C-9D58FD456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for multi-class case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C76A8-EE28-B371-84A8-4DAD192785E4}"/>
              </a:ext>
            </a:extLst>
          </p:cNvPr>
          <p:cNvSpPr txBox="1"/>
          <p:nvPr/>
        </p:nvSpPr>
        <p:spPr>
          <a:xfrm>
            <a:off x="838200" y="1690688"/>
            <a:ext cx="3068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Probabilistic model: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2D20AC-A7CD-FD38-DFDC-D52D8A7D0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621" y="1779714"/>
            <a:ext cx="674366" cy="38154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8990D01-A92C-E2BB-9C67-B06ED629F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11" y="1559003"/>
            <a:ext cx="3168358" cy="83332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748FB15-B60E-37FB-29FD-BD18AFD401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630" y="1505364"/>
            <a:ext cx="2847238" cy="97201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850EC4D-38E4-A0A4-B2A7-B0CE6199F1BE}"/>
              </a:ext>
            </a:extLst>
          </p:cNvPr>
          <p:cNvSpPr txBox="1"/>
          <p:nvPr/>
        </p:nvSpPr>
        <p:spPr>
          <a:xfrm>
            <a:off x="885095" y="5667145"/>
            <a:ext cx="1768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Prediction:</a:t>
            </a:r>
            <a:endParaRPr lang="ru-RU" sz="2800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3CB6329-824B-2820-E293-74C151F1A4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295" y="5715687"/>
            <a:ext cx="3265937" cy="589415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03EED1C-3178-69BD-E977-B1D822203E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374" y="3362432"/>
            <a:ext cx="8840861" cy="1071347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70E729F6-194A-A83A-B78D-0835550946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94" y="2390706"/>
            <a:ext cx="9171045" cy="1003624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F7E1E38C-70AD-7421-196E-70FEF78343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463" y="4489690"/>
            <a:ext cx="5724753" cy="107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9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3418-5B84-8229-C5DB-5C423296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AF8333-9F15-4EEA-B584-2E174F93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for multi-class case (Crammer-Singer formulation)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E10E75-7853-6172-C6AE-0CA23C31D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8730"/>
            <a:ext cx="1374234" cy="47799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2841C4-45D2-43FB-7BE6-CB4820DB1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609" y="1742335"/>
            <a:ext cx="2534474" cy="47799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862D90-A513-1C50-EF5F-39C50629E9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3939041" cy="18948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9C1CE5-15F6-EC51-2556-B7EC3F0B9FFC}"/>
              </a:ext>
            </a:extLst>
          </p:cNvPr>
          <p:cNvSpPr txBox="1"/>
          <p:nvPr/>
        </p:nvSpPr>
        <p:spPr>
          <a:xfrm>
            <a:off x="838200" y="2358459"/>
            <a:ext cx="10306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Idea: score function for the right class should be higher than score values for all the other classes: 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77F1CE-2432-1E66-FEED-42E1AF0306DF}"/>
              </a:ext>
            </a:extLst>
          </p:cNvPr>
          <p:cNvSpPr txBox="1"/>
          <p:nvPr/>
        </p:nvSpPr>
        <p:spPr>
          <a:xfrm>
            <a:off x="809625" y="5692993"/>
            <a:ext cx="17684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Prediction:</a:t>
            </a:r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F42843B-2369-FFB3-AB83-4A89EB79AE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825" y="5741535"/>
            <a:ext cx="3265937" cy="58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529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3418-5B84-8229-C5DB-5C423296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AF8333-9F15-4EEA-B584-2E174F93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for multi-class case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862D90-A513-1C50-EF5F-39C50629E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088" y="2138433"/>
            <a:ext cx="3939041" cy="18948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9C1CE5-15F6-EC51-2556-B7EC3F0B9FFC}"/>
              </a:ext>
            </a:extLst>
          </p:cNvPr>
          <p:cNvSpPr txBox="1"/>
          <p:nvPr/>
        </p:nvSpPr>
        <p:spPr>
          <a:xfrm>
            <a:off x="838200" y="1577409"/>
            <a:ext cx="19718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Primal view: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77F1CE-2432-1E66-FEED-42E1AF0306DF}"/>
              </a:ext>
            </a:extLst>
          </p:cNvPr>
          <p:cNvSpPr txBox="1"/>
          <p:nvPr/>
        </p:nvSpPr>
        <p:spPr>
          <a:xfrm>
            <a:off x="6284663" y="1584583"/>
            <a:ext cx="1702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Dual view:</a:t>
            </a:r>
            <a:endParaRPr lang="ru-RU" sz="2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B35A69E-3A35-620A-6A60-047648A52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720" y="4922122"/>
            <a:ext cx="8248447" cy="9346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4B587F-CCC0-4BDC-BF38-C61D97430F60}"/>
              </a:ext>
            </a:extLst>
          </p:cNvPr>
          <p:cNvSpPr txBox="1"/>
          <p:nvPr/>
        </p:nvSpPr>
        <p:spPr>
          <a:xfrm>
            <a:off x="853121" y="4367003"/>
            <a:ext cx="3170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Unconstrained view:</a:t>
            </a:r>
            <a:endParaRPr lang="ru-RU" sz="2800" dirty="0"/>
          </a:p>
        </p:txBody>
      </p:sp>
      <p:pic>
        <p:nvPicPr>
          <p:cNvPr id="6" name="Рисунок 5" descr="Изображение выглядит как текст, Шрифт, рукописный текс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AB57963-EABB-1A01-5670-BE141E4C02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233" y="2145903"/>
            <a:ext cx="5721089" cy="24518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9F752D-31AA-7E93-7CEB-E24010B9D624}"/>
              </a:ext>
            </a:extLst>
          </p:cNvPr>
          <p:cNvSpPr txBox="1"/>
          <p:nvPr/>
        </p:nvSpPr>
        <p:spPr>
          <a:xfrm>
            <a:off x="862646" y="5898189"/>
            <a:ext cx="10306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problem: number of constraints is proportional to N*K =&gt; constrained view is possible only for relatively small datasets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80408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48818-A39C-0BB2-642B-C6B47E471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4382D-6D48-D869-C11D-AA82CFB51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014" y="1520455"/>
            <a:ext cx="10866474" cy="1881961"/>
          </a:xfrm>
        </p:spPr>
        <p:txBody>
          <a:bodyPr>
            <a:normAutofit/>
          </a:bodyPr>
          <a:lstStyle/>
          <a:p>
            <a:r>
              <a:rPr lang="en-US" dirty="0"/>
              <a:t>Hyperparameter Optimization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616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1FDB0-0640-BB14-E91F-9E1785E0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Hyperparameters in ML models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0684CF-06C2-E7AE-7D5B-74F92C777D99}"/>
              </a:ext>
            </a:extLst>
          </p:cNvPr>
          <p:cNvSpPr txBox="1"/>
          <p:nvPr/>
        </p:nvSpPr>
        <p:spPr>
          <a:xfrm>
            <a:off x="891360" y="5596516"/>
            <a:ext cx="2488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Kernel features: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B7F2FB-687E-AD5F-AA93-EC3D41555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484" y="5649681"/>
            <a:ext cx="4816441" cy="4321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F3E111C-4463-9BBE-5AC0-206451F2E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215" y="6247913"/>
            <a:ext cx="1703154" cy="4321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C74D76-B3AE-9A22-08E5-949D3C1C8D85}"/>
              </a:ext>
            </a:extLst>
          </p:cNvPr>
          <p:cNvSpPr txBox="1"/>
          <p:nvPr/>
        </p:nvSpPr>
        <p:spPr>
          <a:xfrm>
            <a:off x="3180899" y="6156837"/>
            <a:ext cx="651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clusters centers for training set (centroids)</a:t>
            </a:r>
            <a:endParaRPr lang="ru-RU" sz="2800" dirty="0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4F55BBB4-2387-27F2-AA6D-44FD43B06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981755"/>
              </p:ext>
            </p:extLst>
          </p:nvPr>
        </p:nvGraphicFramePr>
        <p:xfrm>
          <a:off x="944524" y="1727789"/>
          <a:ext cx="10602434" cy="367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4974">
                  <a:extLst>
                    <a:ext uri="{9D8B030D-6E8A-4147-A177-3AD203B41FA5}">
                      <a16:colId xmlns:a16="http://schemas.microsoft.com/office/drawing/2014/main" val="1438148029"/>
                    </a:ext>
                  </a:extLst>
                </a:gridCol>
                <a:gridCol w="7857460">
                  <a:extLst>
                    <a:ext uri="{9D8B030D-6E8A-4147-A177-3AD203B41FA5}">
                      <a16:colId xmlns:a16="http://schemas.microsoft.com/office/drawing/2014/main" val="2713038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Method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Hyperparameters</a:t>
                      </a:r>
                      <a:endParaRPr lang="ru-RU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52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Linear Regression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Reg. coefficient       for L2 or L1 regularization</a:t>
                      </a:r>
                    </a:p>
                    <a:p>
                      <a:r>
                        <a:rPr lang="en-US" dirty="0"/>
                        <a:t>Reg. coefficients             for </a:t>
                      </a:r>
                      <a:r>
                        <a:rPr lang="en-US" dirty="0" err="1"/>
                        <a:t>ElasticNet</a:t>
                      </a:r>
                      <a:r>
                        <a:rPr lang="en-US" dirty="0"/>
                        <a:t> regularization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987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Kernel Regression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Reg. coefficients, number of centroids M, kernel function parameters, e.g.      for RBF and degree      for Polynomial kernel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028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SVM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Penalty coefficient      , kernel function parameters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02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Linear SVM with kernel features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Penalty coefficient      , number of centroids M, kernel function parameters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622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Regularization parameters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090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Logistic Regression with kernel features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Regularization parameters, number of centroids M, kernel function parameters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3198"/>
                  </a:ext>
                </a:extLst>
              </a:tr>
            </a:tbl>
          </a:graphicData>
        </a:graphic>
      </p:graphicFrame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62A77F7-7E42-5E43-A3FF-F7BD3C1737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003" y="2152696"/>
            <a:ext cx="266714" cy="2730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2A25BAF-31E9-B582-215C-50802C793D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890" y="2425761"/>
            <a:ext cx="619347" cy="28978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AC2F4AD-E6DB-8F0B-A7BF-AE6961BD2E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476" y="2840473"/>
            <a:ext cx="234962" cy="21591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8A04BF2-6E5A-ED8B-85FC-EACBA84A89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608" y="3047218"/>
            <a:ext cx="184159" cy="27941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062C083-4789-64DB-1273-737F549068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931" y="3392253"/>
            <a:ext cx="279414" cy="29846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98D45C2-30C3-0F4C-2CDA-DE89D9B32A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844" y="3767940"/>
            <a:ext cx="279414" cy="29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480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7308C3-67DA-0EAE-3DA9-54FF049D7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search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1FB61-80E1-A738-787E-4D74C4E69B92}"/>
              </a:ext>
            </a:extLst>
          </p:cNvPr>
          <p:cNvSpPr txBox="1"/>
          <p:nvPr/>
        </p:nvSpPr>
        <p:spPr>
          <a:xfrm>
            <a:off x="838200" y="1690688"/>
            <a:ext cx="6002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Grid of values for each hyperparameter: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DD0075-FB21-FA3C-256B-A2031BD6E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427" y="1743397"/>
            <a:ext cx="3934550" cy="4362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AF8DC94-CA66-B283-D184-B931CC789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291" y="2266617"/>
            <a:ext cx="2147816" cy="4362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E36E90-EB21-4CAE-1DDF-6AFDA1A6B92B}"/>
              </a:ext>
            </a:extLst>
          </p:cNvPr>
          <p:cNvSpPr txBox="1"/>
          <p:nvPr/>
        </p:nvSpPr>
        <p:spPr>
          <a:xfrm>
            <a:off x="838200" y="3016250"/>
            <a:ext cx="109958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each set of hyperparameters compute cross validation (CV) accuracy / loss / ROC-AUC, etc.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6788A3-E8FA-B403-F92E-C156EE30647C}"/>
              </a:ext>
            </a:extLst>
          </p:cNvPr>
          <p:cNvSpPr txBox="1"/>
          <p:nvPr/>
        </p:nvSpPr>
        <p:spPr>
          <a:xfrm>
            <a:off x="838200" y="4228213"/>
            <a:ext cx="9188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Take the best set of hyperparameters and train on full trainset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001C6B-02BF-DFD3-5F58-22B77C0B52B7}"/>
              </a:ext>
            </a:extLst>
          </p:cNvPr>
          <p:cNvSpPr txBox="1"/>
          <p:nvPr/>
        </p:nvSpPr>
        <p:spPr>
          <a:xfrm>
            <a:off x="838200" y="5167311"/>
            <a:ext cx="101452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drawback: need to train ML model from scratch M*K times, where M – a number of possible combinations of hyperparameters values, K – number of folds in CV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97084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779E80-0472-1061-C22C-C4E0A070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with L2 regularization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94615E-E40B-70B0-1A1F-0473A1F58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228" y="3311849"/>
            <a:ext cx="5718630" cy="7710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BE8A33-0410-84A6-8BF5-609617F81E39}"/>
              </a:ext>
            </a:extLst>
          </p:cNvPr>
          <p:cNvSpPr txBox="1"/>
          <p:nvPr/>
        </p:nvSpPr>
        <p:spPr>
          <a:xfrm>
            <a:off x="884240" y="3248281"/>
            <a:ext cx="39489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Prediction on training set: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317CFA-0A8A-33A0-FB6C-33B975E8B378}"/>
              </a:ext>
            </a:extLst>
          </p:cNvPr>
          <p:cNvSpPr txBox="1"/>
          <p:nvPr/>
        </p:nvSpPr>
        <p:spPr>
          <a:xfrm>
            <a:off x="884240" y="2546320"/>
            <a:ext cx="2658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Optimal weights:</a:t>
            </a:r>
            <a:endParaRPr lang="ru-RU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E5FA2C-9B0C-B259-796F-4050C857D51B}"/>
              </a:ext>
            </a:extLst>
          </p:cNvPr>
          <p:cNvSpPr txBox="1"/>
          <p:nvPr/>
        </p:nvSpPr>
        <p:spPr>
          <a:xfrm>
            <a:off x="884240" y="4082900"/>
            <a:ext cx="55950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Singular Value Decomposition (SVD) :</a:t>
            </a:r>
            <a:endParaRPr lang="ru-RU" sz="28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2A54247-53E8-35FA-389F-A9D12A448C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52" y="5347056"/>
            <a:ext cx="8674614" cy="50251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076917E-3E37-A968-E71D-F145F69D1E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85" y="4758280"/>
            <a:ext cx="8182659" cy="50251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F83BDF9-8364-A4C9-B69F-168A0FCBD7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02" y="1502363"/>
            <a:ext cx="5486844" cy="104395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ABE4C4D-4DBB-34C5-1073-9B70FE1D9F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766" y="2533095"/>
            <a:ext cx="3545403" cy="53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344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3EB65-1A06-8AFD-4E92-06174FFA8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B5755-95E3-7F85-F22B-789DA37F4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with L2 regularization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57CE89-1342-AD62-CA75-6A5297F2C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797" y="1690688"/>
            <a:ext cx="10309505" cy="2051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C39165-165E-2AAC-1A05-61940CCFA2D8}"/>
              </a:ext>
            </a:extLst>
          </p:cNvPr>
          <p:cNvSpPr txBox="1"/>
          <p:nvPr/>
        </p:nvSpPr>
        <p:spPr>
          <a:xfrm>
            <a:off x="267204" y="6245575"/>
            <a:ext cx="12024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Result: retraining for new alpha requires O(ND) = one gradient step computation!</a:t>
            </a:r>
            <a:endParaRPr lang="de-DE" sz="2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3D627EA-709B-ECA8-F88B-BF34BEA76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760" y="4066872"/>
            <a:ext cx="1405082" cy="44962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F582AB9-72F7-63B2-290E-0C68AB2E91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49" y="5097515"/>
            <a:ext cx="6303710" cy="74710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74BDFA4-616D-3F7A-8A6A-793143E1D0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042" y="4108151"/>
            <a:ext cx="1053940" cy="434449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0C5DDAA-7974-A12E-D562-944C075A72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329" y="5222905"/>
            <a:ext cx="807580" cy="49632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D7BC51B-8A74-EF09-8147-651372AFD7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930" y="3663729"/>
            <a:ext cx="1181683" cy="42671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E02B9A7-65B6-DBE4-AA5A-444E66F9941E}"/>
              </a:ext>
            </a:extLst>
          </p:cNvPr>
          <p:cNvSpPr txBox="1"/>
          <p:nvPr/>
        </p:nvSpPr>
        <p:spPr>
          <a:xfrm>
            <a:off x="980797" y="4644091"/>
            <a:ext cx="370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Compute for new alpha:</a:t>
            </a:r>
            <a:endParaRPr lang="ru-RU" sz="2800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79234CCF-E839-0D07-B36B-C5700AB689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430" y="5802090"/>
            <a:ext cx="1053940" cy="43444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E860F5F-C21F-3A0C-4272-8A921EFF33E8}"/>
              </a:ext>
            </a:extLst>
          </p:cNvPr>
          <p:cNvSpPr txBox="1"/>
          <p:nvPr/>
        </p:nvSpPr>
        <p:spPr>
          <a:xfrm>
            <a:off x="1005601" y="3602670"/>
            <a:ext cx="42467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Training: compute SVD for </a:t>
            </a:r>
            <a:r>
              <a:rPr lang="de-DE" sz="2800" dirty="0"/>
              <a:t>X</a:t>
            </a:r>
          </a:p>
          <a:p>
            <a:r>
              <a:rPr lang="de-DE" sz="2800" dirty="0" err="1"/>
              <a:t>compute</a:t>
            </a:r>
            <a:endParaRPr lang="ru-RU" sz="2800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89B6987-43B8-1B40-769C-64B048470C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79" y="5786142"/>
            <a:ext cx="1505123" cy="41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972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5E0A06-9ADF-10B4-E60B-ADB1A4F21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with L2 </a:t>
            </a:r>
            <a:r>
              <a:rPr lang="en-US" dirty="0" err="1"/>
              <a:t>regularizer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78A0A7-C2D1-D2F6-C881-B3E8968D2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22" y="1427002"/>
            <a:ext cx="682136" cy="5081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DEC7F3-916A-C5CF-19F2-1C5459D5156B}"/>
              </a:ext>
            </a:extLst>
          </p:cNvPr>
          <p:cNvSpPr txBox="1"/>
          <p:nvPr/>
        </p:nvSpPr>
        <p:spPr>
          <a:xfrm>
            <a:off x="1654186" y="1399254"/>
            <a:ext cx="78832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prediction for </a:t>
            </a:r>
            <a:r>
              <a:rPr lang="en-US" sz="2800" dirty="0" err="1"/>
              <a:t>i-th</a:t>
            </a:r>
            <a:r>
              <a:rPr lang="en-US" sz="2800" dirty="0"/>
              <a:t> object, when training on all objects except for </a:t>
            </a:r>
            <a:r>
              <a:rPr lang="en-US" sz="2800" dirty="0" err="1"/>
              <a:t>i-th</a:t>
            </a:r>
            <a:r>
              <a:rPr lang="en-US" sz="2800" dirty="0"/>
              <a:t> one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4DB3FB0-3484-C0ED-D605-30F9054C2E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22" y="2593073"/>
            <a:ext cx="3120598" cy="83060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3961D5C-8927-476B-2163-D42E0B36B2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54" y="3349249"/>
            <a:ext cx="5482443" cy="95410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2FF12F6-570A-A4F6-7664-FBDEEA8668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89" y="4844869"/>
            <a:ext cx="3593801" cy="95410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7A3DAD8-A43D-E9DA-7AB3-E43A554422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222" y="2862305"/>
            <a:ext cx="842675" cy="4550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A62F0B7-275F-DD82-898D-E97884DC1CC2}"/>
              </a:ext>
            </a:extLst>
          </p:cNvPr>
          <p:cNvSpPr txBox="1"/>
          <p:nvPr/>
        </p:nvSpPr>
        <p:spPr>
          <a:xfrm>
            <a:off x="859466" y="4288523"/>
            <a:ext cx="490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Leave-One-Out (LOO) estimate:</a:t>
            </a:r>
            <a:endParaRPr lang="ru-RU" sz="28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6280F7C-2519-16D8-BFCF-DD49F8B7E7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677" y="5105030"/>
            <a:ext cx="842675" cy="45504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439DCAB-6D0B-E503-73EC-5C1B26CB40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710" y="3664060"/>
            <a:ext cx="1053940" cy="43444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8652053-5018-52FB-E9E2-6499B2CB45A2}"/>
              </a:ext>
            </a:extLst>
          </p:cNvPr>
          <p:cNvSpPr txBox="1"/>
          <p:nvPr/>
        </p:nvSpPr>
        <p:spPr>
          <a:xfrm>
            <a:off x="870099" y="5761650"/>
            <a:ext cx="8592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Result: compute LOO for new alpha requires just O(ND)!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03308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FC591C-C8D0-9957-6231-D04EAEB00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with L1 </a:t>
            </a:r>
            <a:r>
              <a:rPr lang="en-US" dirty="0" err="1"/>
              <a:t>regularizer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D8C77B-E955-AE6D-AF44-5197CAC5D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46896"/>
            <a:ext cx="6203398" cy="3045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C30CC0-A975-639E-06E2-DDFC41414CB4}"/>
              </a:ext>
            </a:extLst>
          </p:cNvPr>
          <p:cNvSpPr txBox="1"/>
          <p:nvPr/>
        </p:nvSpPr>
        <p:spPr>
          <a:xfrm>
            <a:off x="909784" y="2331783"/>
            <a:ext cx="81810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Optimal weights have piecewise linear trajectory </a:t>
            </a:r>
            <a:r>
              <a:rPr lang="en-US" sz="2800" dirty="0" err="1"/>
              <a:t>w.r.t.</a:t>
            </a:r>
            <a:r>
              <a:rPr lang="en-US" sz="2800" dirty="0"/>
              <a:t> regularization coefficient!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AE573-7162-A6A4-E406-8719BA256ACA}"/>
              </a:ext>
            </a:extLst>
          </p:cNvPr>
          <p:cNvSpPr txBox="1"/>
          <p:nvPr/>
        </p:nvSpPr>
        <p:spPr>
          <a:xfrm>
            <a:off x="7569310" y="3574491"/>
            <a:ext cx="41690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trajectory can be found by LARS (Least Angle Regression) algorithm with complexity of one training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CB3C471-97D1-0CE9-0A42-D44C978A6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15" y="1389489"/>
            <a:ext cx="4770797" cy="87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150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CCC181-2808-9927-7156-FD1B1895F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with L2 </a:t>
            </a:r>
            <a:r>
              <a:rPr lang="en-US" dirty="0" err="1"/>
              <a:t>regularizer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182401-1519-ACED-7E19-72A01D9FD177}"/>
              </a:ext>
            </a:extLst>
          </p:cNvPr>
          <p:cNvSpPr txBox="1"/>
          <p:nvPr/>
        </p:nvSpPr>
        <p:spPr>
          <a:xfrm>
            <a:off x="909784" y="2331783"/>
            <a:ext cx="71603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Optimal weights have smooth trajectory </a:t>
            </a:r>
            <a:r>
              <a:rPr lang="en-US" sz="2800" dirty="0" err="1"/>
              <a:t>w.r.t.</a:t>
            </a:r>
            <a:r>
              <a:rPr lang="en-US" sz="2800" dirty="0"/>
              <a:t> regularization coefficient!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4933E2F-5FC6-F966-7BC3-C13290670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81" y="1391515"/>
            <a:ext cx="5798502" cy="86258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144CD64-8EB4-9051-1AE4-0E263C2AD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59" y="3572111"/>
            <a:ext cx="6869060" cy="31476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76BE67-464E-1EF1-AA92-321A91A61CE8}"/>
              </a:ext>
            </a:extLst>
          </p:cNvPr>
          <p:cNvSpPr txBox="1"/>
          <p:nvPr/>
        </p:nvSpPr>
        <p:spPr>
          <a:xfrm>
            <a:off x="7716392" y="3698385"/>
            <a:ext cx="44437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Idea: compute weights for new alpha using weights for neighbor alpha as warm start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4828798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14A1A-B235-D9B3-30BB-9D2B92543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62465-B946-83C7-AE2D-F2409625E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with L2 </a:t>
            </a:r>
            <a:r>
              <a:rPr lang="en-US" dirty="0" err="1"/>
              <a:t>regularizer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C35500-B8CB-8E64-81FE-3933AE40E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66" y="1488645"/>
            <a:ext cx="8289447" cy="337043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6BF50CF-6F15-A014-9B31-33E84F634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264" y="5190388"/>
            <a:ext cx="4474127" cy="81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428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9C16A-925D-9D50-DC43-B94AD54BD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optimization using </a:t>
            </a:r>
            <a:r>
              <a:rPr lang="en-US" dirty="0" err="1"/>
              <a:t>Optuna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082F80-E339-451B-7910-72A1B957A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84" y="3041180"/>
            <a:ext cx="9436585" cy="35879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622F6A-6942-C8A1-4816-191CD094E5B4}"/>
              </a:ext>
            </a:extLst>
          </p:cNvPr>
          <p:cNvSpPr txBox="1"/>
          <p:nvPr/>
        </p:nvSpPr>
        <p:spPr>
          <a:xfrm>
            <a:off x="838200" y="1520900"/>
            <a:ext cx="8848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Optuna</a:t>
            </a:r>
            <a:r>
              <a:rPr lang="en-US" sz="2800" dirty="0"/>
              <a:t> – general library for hyperparameter optimization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A84F02-48F1-DD4C-CB2C-1ED57D4F7BFB}"/>
              </a:ext>
            </a:extLst>
          </p:cNvPr>
          <p:cNvSpPr txBox="1"/>
          <p:nvPr/>
        </p:nvSpPr>
        <p:spPr>
          <a:xfrm>
            <a:off x="838200" y="2280711"/>
            <a:ext cx="8848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Example: RBF SVM, hyperparameters: C, sigma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7904330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1047</Words>
  <Application>Microsoft Office PowerPoint</Application>
  <PresentationFormat>Широкоэкранный</PresentationFormat>
  <Paragraphs>147</Paragraphs>
  <Slides>37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Тема Office</vt:lpstr>
      <vt:lpstr>Logistic Regression   Multi-Class Classification  Hyperparameter Optimization</vt:lpstr>
      <vt:lpstr>Linear classification</vt:lpstr>
      <vt:lpstr>Probability prediction</vt:lpstr>
      <vt:lpstr>Probability prediction</vt:lpstr>
      <vt:lpstr>Probability prediction (Probit Regression)</vt:lpstr>
      <vt:lpstr>Probability prediction (Logistic Regression)</vt:lpstr>
      <vt:lpstr>Probability prediction: Loss function view</vt:lpstr>
      <vt:lpstr>Learning probabilities</vt:lpstr>
      <vt:lpstr>Example: quadratic loss</vt:lpstr>
      <vt:lpstr>Example: quadratic loss</vt:lpstr>
      <vt:lpstr>Example: L1 loss</vt:lpstr>
      <vt:lpstr>Probability prediction: probabilistic view</vt:lpstr>
      <vt:lpstr>Learning probabilities with logistic loss</vt:lpstr>
      <vt:lpstr>Logistic regression</vt:lpstr>
      <vt:lpstr>Logistic Regression vs. SVM</vt:lpstr>
      <vt:lpstr>Probability calibration</vt:lpstr>
      <vt:lpstr>Probability calibration: estimation</vt:lpstr>
      <vt:lpstr>Probability calibration: Platt scaling</vt:lpstr>
      <vt:lpstr>Probability calibration: Isotonic Regression</vt:lpstr>
      <vt:lpstr>Multi-Class Classification</vt:lpstr>
      <vt:lpstr>Multi-class Classification</vt:lpstr>
      <vt:lpstr>One-vs-All (One-vs-Rest)</vt:lpstr>
      <vt:lpstr>All-vs-All (AvA)</vt:lpstr>
      <vt:lpstr>Logistic Regression for multi-class case</vt:lpstr>
      <vt:lpstr>Logistic Regression for multi-class case</vt:lpstr>
      <vt:lpstr>SVM for multi-class case (Crammer-Singer formulation)</vt:lpstr>
      <vt:lpstr>SVM for multi-class case</vt:lpstr>
      <vt:lpstr>Hyperparameter Optimization</vt:lpstr>
      <vt:lpstr>Hyperparameters in ML models</vt:lpstr>
      <vt:lpstr>Grid search</vt:lpstr>
      <vt:lpstr>Linear Regression with L2 regularization</vt:lpstr>
      <vt:lpstr>Linear Regression with L2 regularization</vt:lpstr>
      <vt:lpstr>Linear Regression with L2 regularizer</vt:lpstr>
      <vt:lpstr>Linear Regression with L1 regularizer </vt:lpstr>
      <vt:lpstr>Logistic Regression with L2 regularizer</vt:lpstr>
      <vt:lpstr>Logistic Regression with L2 regularizer</vt:lpstr>
      <vt:lpstr>Hyperparameter optimization using Optuna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Dmitry Kropotov</cp:lastModifiedBy>
  <cp:revision>305</cp:revision>
  <dcterms:created xsi:type="dcterms:W3CDTF">2016-07-15T17:21:31Z</dcterms:created>
  <dcterms:modified xsi:type="dcterms:W3CDTF">2026-03-13T06:59:24Z</dcterms:modified>
</cp:coreProperties>
</file>